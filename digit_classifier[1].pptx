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85" r:id="rId2"/>
    <p:sldId id="286" r:id="rId3"/>
    <p:sldId id="276" r:id="rId4"/>
    <p:sldId id="270" r:id="rId5"/>
    <p:sldId id="277" r:id="rId6"/>
    <p:sldId id="278" r:id="rId7"/>
    <p:sldId id="279" r:id="rId8"/>
    <p:sldId id="281" r:id="rId9"/>
    <p:sldId id="283" r:id="rId10"/>
    <p:sldId id="284" r:id="rId11"/>
    <p:sldId id="273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00"/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5277" autoAdjust="0"/>
    <p:restoredTop sz="94660"/>
  </p:normalViewPr>
  <p:slideViewPr>
    <p:cSldViewPr>
      <p:cViewPr varScale="1">
        <p:scale>
          <a:sx n="81" d="100"/>
          <a:sy n="81" d="100"/>
        </p:scale>
        <p:origin x="2011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CD895D-D788-4B08-93B3-B78EFB535739}" type="datetimeFigureOut">
              <a:rPr lang="en-IN" smtClean="0"/>
              <a:t>17-11-2025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5432714-8A85-4045-9756-8E58AB7B76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61346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2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24728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3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4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5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6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7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8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9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DECB7F0-34A5-4C70-97E9-77E6D8EC06C7}" type="slidenum">
              <a:rPr lang="en-US"/>
              <a:pPr/>
              <a:t>10</a:t>
            </a:fld>
            <a:endParaRPr lang="en-US"/>
          </a:p>
        </p:txBody>
      </p:sp>
      <p:sp>
        <p:nvSpPr>
          <p:cNvPr id="5212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12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50812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3856" y="0"/>
            <a:ext cx="9147855" cy="548680"/>
          </a:xfrm>
        </p:spPr>
        <p:txBody>
          <a:bodyPr>
            <a:normAutofit/>
          </a:bodyPr>
          <a:lstStyle>
            <a:lvl1pPr algn="l">
              <a:defRPr sz="28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764704"/>
            <a:ext cx="9144000" cy="540060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0" y="6492064"/>
            <a:ext cx="395064" cy="365125"/>
          </a:xfrm>
        </p:spPr>
        <p:txBody>
          <a:bodyPr/>
          <a:lstStyle>
            <a:lvl1pPr algn="ctr">
              <a:defRPr/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15317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53960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571185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69192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57710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48567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8540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92711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7677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530884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-19676" y="8721"/>
            <a:ext cx="9163676" cy="49006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l"/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620688"/>
            <a:ext cx="9144000" cy="56886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FC1071-F2DF-4CA9-AA63-FF97A16BD73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6460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lang="en-IN" sz="2800" b="1" kern="1200" smtClean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ensorflow.org/datasets/catalog/mnist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hyperlink" Target="https://keras.io/api/datasets/mnist/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87449"/>
            <a:ext cx="9144000" cy="1080120"/>
          </a:xfrm>
        </p:spPr>
        <p:txBody>
          <a:bodyPr>
            <a:normAutofit/>
          </a:bodyPr>
          <a:lstStyle/>
          <a:p>
            <a:pPr fontAlgn="base">
              <a:spcAft>
                <a:spcPct val="0"/>
              </a:spcAft>
            </a:pPr>
            <a:r>
              <a:rPr lang="en-IN" dirty="0" err="1"/>
              <a:t>HandwrittenDigitClassifier</a:t>
            </a:r>
            <a:br>
              <a:rPr lang="en-US" sz="2000" dirty="0">
                <a:ea typeface="Droid Sans Fallback"/>
                <a:cs typeface="Times New Roman" pitchFamily="18" charset="0"/>
              </a:rPr>
            </a:br>
            <a:r>
              <a:rPr lang="en-US" sz="2400" dirty="0">
                <a:ea typeface="Droid Sans Fallback"/>
                <a:cs typeface="Times New Roman" pitchFamily="18" charset="0"/>
              </a:rPr>
              <a:t>Project Synopsis Presentation </a:t>
            </a:r>
            <a:endParaRPr lang="en-IN" sz="2000" dirty="0"/>
          </a:p>
        </p:txBody>
      </p:sp>
      <p:sp>
        <p:nvSpPr>
          <p:cNvPr id="5" name="Rectangle 4"/>
          <p:cNvSpPr/>
          <p:nvPr/>
        </p:nvSpPr>
        <p:spPr>
          <a:xfrm>
            <a:off x="2323783" y="1585264"/>
            <a:ext cx="4968552" cy="144016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Rectangle 2"/>
          <p:cNvSpPr/>
          <p:nvPr/>
        </p:nvSpPr>
        <p:spPr>
          <a:xfrm>
            <a:off x="861224" y="6122424"/>
            <a:ext cx="784887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libri" pitchFamily="34" charset="0"/>
                <a:ea typeface="Droid Sans Fallback"/>
                <a:cs typeface="Calibri" pitchFamily="34" charset="0"/>
              </a:rPr>
              <a:t>FACULTY OF ENGINEERING &amp; COMPUTING SCIENCES</a:t>
            </a:r>
            <a:endParaRPr lang="en-US" sz="700" dirty="0"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latin typeface="Calibri" pitchFamily="34" charset="0"/>
                <a:ea typeface="Droid Sans Fallback"/>
                <a:cs typeface="Calibri" pitchFamily="34" charset="0"/>
              </a:rPr>
              <a:t>TEERTHANKER MAHAVEER UNIVERSITY, MORADABAD</a:t>
            </a:r>
            <a:endParaRPr lang="en-US" b="1" dirty="0">
              <a:latin typeface="Arial" pitchFamily="34" charset="0"/>
              <a:ea typeface="Droid Sans Fallback"/>
              <a:cs typeface="Calibri" pitchFamily="34" charset="0"/>
            </a:endParaRPr>
          </a:p>
        </p:txBody>
      </p:sp>
      <p:pic>
        <p:nvPicPr>
          <p:cNvPr id="7" name="Picture 1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301" y="4854798"/>
            <a:ext cx="1204101" cy="1085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 8"/>
          <p:cNvSpPr/>
          <p:nvPr/>
        </p:nvSpPr>
        <p:spPr>
          <a:xfrm>
            <a:off x="183733" y="3198719"/>
            <a:ext cx="374019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b="1" dirty="0">
                <a:solidFill>
                  <a:srgbClr val="0033CC"/>
                </a:solidFill>
                <a:latin typeface="Calibri" pitchFamily="34" charset="0"/>
                <a:ea typeface="Droid Sans Fallback"/>
                <a:cs typeface="Times New Roman" pitchFamily="18" charset="0"/>
              </a:rPr>
              <a:t>Project Guide: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dirty="0">
              <a:solidFill>
                <a:srgbClr val="0033CC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11559" y="1863247"/>
            <a:ext cx="8041741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dirty="0"/>
              <a:t>Industrial Training</a:t>
            </a:r>
            <a:r>
              <a:rPr lang="en-US" sz="2000" b="1" dirty="0">
                <a:latin typeface="Calibri" pitchFamily="34" charset="0"/>
                <a:ea typeface="Droid Sans Fallback"/>
                <a:cs typeface="Times New Roman" pitchFamily="18" charset="0"/>
              </a:rPr>
              <a:t>(</a:t>
            </a:r>
            <a:r>
              <a:rPr lang="en-US" dirty="0"/>
              <a:t>ID</a:t>
            </a:r>
            <a:r>
              <a:rPr lang="en-US" sz="2000" b="1" dirty="0">
                <a:latin typeface="Calibri" pitchFamily="34" charset="0"/>
                <a:ea typeface="Droid Sans Fallback"/>
                <a:cs typeface="Times New Roman" pitchFamily="18" charset="0"/>
              </a:rPr>
              <a:t>)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000" b="1" dirty="0">
                <a:latin typeface="Calibri" pitchFamily="34" charset="0"/>
                <a:ea typeface="Droid Sans Fallback"/>
                <a:cs typeface="Times New Roman" pitchFamily="18" charset="0"/>
              </a:rPr>
              <a:t>Degree :</a:t>
            </a:r>
            <a:r>
              <a:rPr lang="en-US" sz="2000" b="1" dirty="0" err="1">
                <a:latin typeface="Calibri" pitchFamily="34" charset="0"/>
                <a:ea typeface="Droid Sans Fallback"/>
                <a:cs typeface="Times New Roman" pitchFamily="18" charset="0"/>
              </a:rPr>
              <a:t>Btech</a:t>
            </a:r>
            <a:endParaRPr lang="en-US" sz="2000" b="1" dirty="0">
              <a:solidFill>
                <a:srgbClr val="FF0000"/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42873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US" dirty="0"/>
              <a:t>Team Details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2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7664" y="6298600"/>
            <a:ext cx="491538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i="1" dirty="0">
                <a:solidFill>
                  <a:srgbClr val="FFFF00"/>
                </a:solidFill>
              </a:rPr>
              <a:t>Guidelines: Mention Team Names &amp; their role in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1208361"/>
              </p:ext>
            </p:extLst>
          </p:nvPr>
        </p:nvGraphicFramePr>
        <p:xfrm>
          <a:off x="386882" y="1372628"/>
          <a:ext cx="8433590" cy="836790"/>
        </p:xfrm>
        <a:graphic>
          <a:graphicData uri="http://schemas.openxmlformats.org/drawingml/2006/table">
            <a:tbl>
              <a:tblPr firstRow="1" firstCol="1" bandRow="1">
                <a:tableStyleId>{E8B1032C-EA38-4F05-BA0D-38AFFFC7BED3}</a:tableStyleId>
              </a:tblPr>
              <a:tblGrid>
                <a:gridCol w="5927731">
                  <a:extLst>
                    <a:ext uri="{9D8B030D-6E8A-4147-A177-3AD203B41FA5}">
                      <a16:colId xmlns:a16="http://schemas.microsoft.com/office/drawing/2014/main" val="3341467042"/>
                    </a:ext>
                  </a:extLst>
                </a:gridCol>
                <a:gridCol w="2505859">
                  <a:extLst>
                    <a:ext uri="{9D8B030D-6E8A-4147-A177-3AD203B41FA5}">
                      <a16:colId xmlns:a16="http://schemas.microsoft.com/office/drawing/2014/main" val="4186870229"/>
                    </a:ext>
                  </a:extLst>
                </a:gridCol>
              </a:tblGrid>
              <a:tr h="443024"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Student Name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6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effectLst/>
                        </a:rPr>
                        <a:t>Role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76531479"/>
                  </a:ext>
                </a:extLst>
              </a:tr>
              <a:tr h="393766"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6000"/>
                        </a:lnSpc>
                        <a:spcAft>
                          <a:spcPts val="800"/>
                        </a:spcAft>
                      </a:pPr>
                      <a:endParaRPr lang="en-IN" sz="1800" dirty="0">
                        <a:effectLst/>
                        <a:latin typeface="Calibri" panose="020F0502020204030204" pitchFamily="34" charset="0"/>
                        <a:ea typeface="Droid Sans Fallback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9516391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347136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1295953"/>
            <a:ext cx="9144000" cy="5250904"/>
          </a:xfrm>
        </p:spPr>
        <p:txBody>
          <a:bodyPr>
            <a:normAutofit/>
          </a:bodyPr>
          <a:lstStyle/>
          <a:p>
            <a:r>
              <a:rPr lang="en-US" dirty="0"/>
              <a:t>This project aims to develop an advanced deep learning-based handwritten digit recognition system using Convolutional Neural Networks (CNN) with high accuracy and reliability.</a:t>
            </a:r>
          </a:p>
          <a:p>
            <a:r>
              <a:rPr lang="en-US" dirty="0"/>
              <a:t>By leveraging the MNIST dataset along with powerful image processing and machine learning techniques, the system automatically learns and extracts features from handwritten digit images for precise classification.</a:t>
            </a:r>
          </a:p>
          <a:p>
            <a:r>
              <a:rPr lang="en-US" dirty="0"/>
              <a:t>The solution enhances automation in various domains such as banking, postal services, and document digitization by accurately recognizing handwritten digits and improving productivity.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defPPr>
              <a:defRPr lang="en-US"/>
            </a:defPPr>
            <a:lvl1pPr>
              <a:spcBef>
                <a:spcPct val="50000"/>
              </a:spcBef>
              <a:defRPr sz="2400" b="1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defRPr>
            </a:lvl1pPr>
          </a:lstStyle>
          <a:p>
            <a:r>
              <a:rPr lang="en-US" dirty="0"/>
              <a:t>Project Brief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3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547664" y="6298600"/>
            <a:ext cx="61884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i="1" dirty="0">
                <a:solidFill>
                  <a:srgbClr val="FFFF00"/>
                </a:solidFill>
              </a:rPr>
              <a:t>Guidelines: Mention brief about the project and it’s functions/ modules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</p:spTree>
    <p:extLst>
      <p:ext uri="{BB962C8B-B14F-4D97-AF65-F5344CB8AC3E}">
        <p14:creationId xmlns:p14="http://schemas.microsoft.com/office/powerpoint/2010/main" val="18095972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 q</a:t>
            </a:r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/>
          </a:bodyPr>
          <a:lstStyle/>
          <a:p>
            <a:r>
              <a:rPr lang="en-US" dirty="0"/>
              <a:t>This project utilizes Python programming language along with powerful libraries such as TensorFlow and </a:t>
            </a:r>
            <a:r>
              <a:rPr lang="en-US" dirty="0" err="1"/>
              <a:t>Keras</a:t>
            </a:r>
            <a:r>
              <a:rPr lang="en-US" dirty="0"/>
              <a:t> for building and training the Convolutional Neural Network (CNN) model.</a:t>
            </a:r>
          </a:p>
          <a:p>
            <a:r>
              <a:rPr lang="en-US" dirty="0"/>
              <a:t>Data handling and preprocessing are performed using NumPy and Pandas, while Matplotlib and Seaborn assist in visualization and analysis of data and model performance.</a:t>
            </a:r>
          </a:p>
          <a:p>
            <a:r>
              <a:rPr lang="en-US" dirty="0"/>
              <a:t>The entire implementation is carried out in the interactive </a:t>
            </a:r>
            <a:r>
              <a:rPr lang="en-US" dirty="0" err="1"/>
              <a:t>Jupyter</a:t>
            </a:r>
            <a:r>
              <a:rPr lang="en-US" dirty="0"/>
              <a:t> Notebook environment, enabling seamless coding, visualization, and documentation in one platform.</a:t>
            </a:r>
          </a:p>
          <a:p>
            <a:r>
              <a:rPr lang="en-US" dirty="0"/>
              <a:t>The methodology follows a structured pipeline including dataset preprocessing, model building, training, validation, and testing to achieve efficient and accurate handwritten digit classification.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Methodologies/ Technologies/ Tools to be used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4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</p:spTree>
    <p:extLst>
      <p:ext uri="{BB962C8B-B14F-4D97-AF65-F5344CB8AC3E}">
        <p14:creationId xmlns:p14="http://schemas.microsoft.com/office/powerpoint/2010/main" val="28437905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753558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Context Diagram (Overall Project)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5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  <p:pic>
        <p:nvPicPr>
          <p:cNvPr id="1028" name="Picture 4" descr="Context diagram for MNIST digit recognition with white background.">
            <a:extLst>
              <a:ext uri="{FF2B5EF4-FFF2-40B4-BE49-F238E27FC236}">
                <a16:creationId xmlns:a16="http://schemas.microsoft.com/office/drawing/2014/main" id="{BFB137B8-88EE-DB4A-A1AD-AFF6A34C0F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7584" y="931044"/>
            <a:ext cx="7884368" cy="49337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6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-18538" y="-811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Entity Relationship Diagram (ERD)</a:t>
            </a: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6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5F5C5A8-DAF8-A89F-4ACB-9B14D05F6D5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72616" y="582560"/>
            <a:ext cx="11000516" cy="55263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-18288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Data Flow Diagram (DFD)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7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47664" y="6298600"/>
            <a:ext cx="496975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i="1" dirty="0">
                <a:solidFill>
                  <a:srgbClr val="FFFF00"/>
                </a:solidFill>
              </a:rPr>
              <a:t>Guidelines: Add more slides, if required to show all DFDs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  <p:pic>
        <p:nvPicPr>
          <p:cNvPr id="3076" name="Picture 4" descr="Accurate Level 1 Data Flow Diagram for MNIST digit recognition project.">
            <a:extLst>
              <a:ext uri="{FF2B5EF4-FFF2-40B4-BE49-F238E27FC236}">
                <a16:creationId xmlns:a16="http://schemas.microsoft.com/office/drawing/2014/main" id="{19FF32C9-01DA-1810-0A9A-139526F2A78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720" y="1029408"/>
            <a:ext cx="4813996" cy="48139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29915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Flow Chart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8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547664" y="6298600"/>
            <a:ext cx="288970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i="1" dirty="0">
                <a:solidFill>
                  <a:srgbClr val="FFFF00"/>
                </a:solidFill>
              </a:rPr>
              <a:t>Guidelines: This slide is optional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  <p:pic>
        <p:nvPicPr>
          <p:cNvPr id="4102" name="Picture 6" descr="Flow chart of handwritten digit identification. | Download Scientific  Diagram">
            <a:extLst>
              <a:ext uri="{FF2B5EF4-FFF2-40B4-BE49-F238E27FC236}">
                <a16:creationId xmlns:a16="http://schemas.microsoft.com/office/drawing/2014/main" id="{92B4791A-DC75-BE85-5030-559A56264E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6348" y="1652479"/>
            <a:ext cx="7682036" cy="38410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609284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\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12278" y="915504"/>
            <a:ext cx="9144000" cy="52509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High accuracy with Convolutional Neural Networks (CNN) for reliable digit recognition</a:t>
            </a:r>
          </a:p>
          <a:p>
            <a:r>
              <a:rPr lang="en-US" dirty="0"/>
              <a:t>Automates digit recognition for applications like mail sorting and form processing</a:t>
            </a:r>
          </a:p>
          <a:p>
            <a:r>
              <a:rPr lang="en-US" dirty="0"/>
              <a:t>Fast classification improves operational efficiency compared to manual methods</a:t>
            </a:r>
          </a:p>
          <a:p>
            <a:r>
              <a:rPr lang="en-US" dirty="0"/>
              <a:t>Scalable approach, adaptable for other handwritten characters or image recognition</a:t>
            </a:r>
          </a:p>
          <a:p>
            <a:r>
              <a:rPr lang="en-US" dirty="0"/>
              <a:t>Robust system handles various handwriting styles and image qualities</a:t>
            </a:r>
          </a:p>
          <a:p>
            <a:r>
              <a:rPr lang="en-US" dirty="0"/>
              <a:t>Built with open-source libraries for easy reproduction and community support</a:t>
            </a:r>
          </a:p>
          <a:p>
            <a:r>
              <a:rPr lang="en-US" dirty="0"/>
              <a:t>Serves as an educational tool for learning deep learning and AI model development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Advantage of The Project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9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83568" y="6262010"/>
            <a:ext cx="831855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b="1" i="1" dirty="0">
                <a:solidFill>
                  <a:srgbClr val="FFFF00"/>
                </a:solidFill>
              </a:rPr>
              <a:t>Guidelines: </a:t>
            </a:r>
            <a:r>
              <a:rPr lang="en-US" sz="1600" b="1" i="1" dirty="0">
                <a:solidFill>
                  <a:srgbClr val="FFFF00"/>
                </a:solidFill>
              </a:rPr>
              <a:t> Mention advantage from this project, the audience/ users who will get benefitted</a:t>
            </a:r>
            <a:endParaRPr lang="en-IN" sz="1600" b="1" i="1" dirty="0">
              <a:solidFill>
                <a:srgbClr val="FFFF0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275276" y="6569440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</p:spTree>
    <p:extLst>
      <p:ext uri="{BB962C8B-B14F-4D97-AF65-F5344CB8AC3E}">
        <p14:creationId xmlns:p14="http://schemas.microsoft.com/office/powerpoint/2010/main" val="2585641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0" y="914400"/>
            <a:ext cx="9144000" cy="5250904"/>
          </a:xfrm>
        </p:spPr>
        <p:txBody>
          <a:bodyPr>
            <a:normAutofit/>
          </a:bodyPr>
          <a:lstStyle/>
          <a:p>
            <a:r>
              <a:rPr lang="en-IN" dirty="0"/>
              <a:t>TensorFlow Datasets: MNIST. </a:t>
            </a:r>
            <a:r>
              <a:rPr lang="en-IN" dirty="0">
                <a:hlinkClick r:id="rId3"/>
              </a:rPr>
              <a:t>https://www.tensorflow.org/datasets/catalog/mnist</a:t>
            </a:r>
            <a:endParaRPr lang="en-IN" dirty="0"/>
          </a:p>
          <a:p>
            <a:r>
              <a:rPr lang="en-IN" dirty="0" err="1"/>
              <a:t>Keras</a:t>
            </a:r>
            <a:r>
              <a:rPr lang="en-IN" dirty="0"/>
              <a:t> API: MNIST Dataset. </a:t>
            </a:r>
            <a:r>
              <a:rPr lang="en-IN" dirty="0">
                <a:hlinkClick r:id="rId4"/>
              </a:rPr>
              <a:t>https://keras.io/api/datasets/mnist/</a:t>
            </a:r>
            <a:endParaRPr lang="en-IN" dirty="0"/>
          </a:p>
          <a:p>
            <a:r>
              <a:rPr lang="en-US"/>
              <a:t>Goodfellow (</a:t>
            </a:r>
            <a:r>
              <a:rPr lang="en-US" dirty="0"/>
              <a:t>2016): A thorough textbook on deep learning covering the theory and practical applications of neural networks including CNNs, which are central to handwritten digit recognition.</a:t>
            </a:r>
          </a:p>
          <a:p>
            <a:endParaRPr lang="en-IN"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10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485380" name="Rectangle 4"/>
          <p:cNvSpPr>
            <a:spLocks noChangeArrowheads="1"/>
          </p:cNvSpPr>
          <p:nvPr/>
        </p:nvSpPr>
        <p:spPr bwMode="auto">
          <a:xfrm>
            <a:off x="0" y="0"/>
            <a:ext cx="9144000" cy="914400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/>
          </a:p>
        </p:txBody>
      </p:sp>
      <p:sp>
        <p:nvSpPr>
          <p:cNvPr id="485381" name="Text Box 5"/>
          <p:cNvSpPr txBox="1">
            <a:spLocks noChangeArrowheads="1"/>
          </p:cNvSpPr>
          <p:nvPr/>
        </p:nvSpPr>
        <p:spPr bwMode="auto">
          <a:xfrm>
            <a:off x="0" y="0"/>
            <a:ext cx="6172712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2400" b="1" dirty="0">
                <a:solidFill>
                  <a:schemeClr val="bg1"/>
                </a:solidFill>
                <a:latin typeface="Calibri" pitchFamily="34" charset="0"/>
                <a:ea typeface="ＭＳ Ｐゴシック" pitchFamily="-28" charset="-128"/>
              </a:rPr>
              <a:t>References, if any</a:t>
            </a:r>
            <a:endParaRPr lang="en-US" b="1" dirty="0">
              <a:solidFill>
                <a:schemeClr val="bg1"/>
              </a:solidFill>
              <a:latin typeface="Calibri" pitchFamily="34" charset="0"/>
              <a:ea typeface="ＭＳ Ｐゴシック" pitchFamily="-28" charset="-128"/>
            </a:endParaRPr>
          </a:p>
        </p:txBody>
      </p:sp>
      <p:sp>
        <p:nvSpPr>
          <p:cNvPr id="485384" name="Rectangle 8"/>
          <p:cNvSpPr>
            <a:spLocks noChangeArrowheads="1"/>
          </p:cNvSpPr>
          <p:nvPr/>
        </p:nvSpPr>
        <p:spPr bwMode="auto">
          <a:xfrm>
            <a:off x="0" y="6165304"/>
            <a:ext cx="9144000" cy="692696"/>
          </a:xfrm>
          <a:prstGeom prst="rect">
            <a:avLst/>
          </a:prstGeom>
          <a:solidFill>
            <a:srgbClr val="711613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IN" dirty="0"/>
          </a:p>
        </p:txBody>
      </p:sp>
      <p:pic>
        <p:nvPicPr>
          <p:cNvPr id="485394" name="Picture 18" descr="Teerthanker Mahaveer University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2712" y="33879"/>
            <a:ext cx="2952750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Slide Number Placeholder 3"/>
          <p:cNvSpPr txBox="1">
            <a:spLocks/>
          </p:cNvSpPr>
          <p:nvPr/>
        </p:nvSpPr>
        <p:spPr>
          <a:xfrm>
            <a:off x="0" y="6492875"/>
            <a:ext cx="46707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08FC1071-F2DF-4CA9-AA63-FF97A16BD739}" type="slidenum">
              <a:rPr lang="en-IN" smtClean="0">
                <a:solidFill>
                  <a:schemeClr val="bg1"/>
                </a:solidFill>
              </a:rPr>
              <a:pPr/>
              <a:t>10</a:t>
            </a:fld>
            <a:endParaRPr lang="en-IN" dirty="0">
              <a:solidFill>
                <a:schemeClr val="bg1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75276" y="6547668"/>
            <a:ext cx="1850186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050" b="1" dirty="0">
                <a:solidFill>
                  <a:schemeClr val="bg1"/>
                </a:solidFill>
              </a:rPr>
              <a:t>T011A/ Template  Version 5.0</a:t>
            </a:r>
          </a:p>
        </p:txBody>
      </p:sp>
    </p:spTree>
    <p:extLst>
      <p:ext uri="{BB962C8B-B14F-4D97-AF65-F5344CB8AC3E}">
        <p14:creationId xmlns:p14="http://schemas.microsoft.com/office/powerpoint/2010/main" val="25856418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THANKS</a:t>
            </a:r>
          </a:p>
        </p:txBody>
      </p:sp>
    </p:spTree>
    <p:extLst>
      <p:ext uri="{BB962C8B-B14F-4D97-AF65-F5344CB8AC3E}">
        <p14:creationId xmlns:p14="http://schemas.microsoft.com/office/powerpoint/2010/main" val="40407188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2859</TotalTime>
  <Words>534</Words>
  <Application>Microsoft Office PowerPoint</Application>
  <PresentationFormat>On-screen Show (4:3)</PresentationFormat>
  <Paragraphs>79</Paragraphs>
  <Slides>11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Droid Sans Fallback</vt:lpstr>
      <vt:lpstr>Office Theme</vt:lpstr>
      <vt:lpstr>HandwrittenDigitClassifier Project Synopsis Presentation </vt:lpstr>
      <vt:lpstr>PowerPoint Presentation</vt:lpstr>
      <vt:lpstr>PowerPoint Presentation</vt:lpstr>
      <vt:lpstr> q</vt:lpstr>
      <vt:lpstr>PowerPoint Presentation</vt:lpstr>
      <vt:lpstr>PowerPoint Presentation</vt:lpstr>
      <vt:lpstr>PowerPoint Presentation</vt:lpstr>
      <vt:lpstr>PowerPoint Presentation</vt:lpstr>
      <vt:lpstr>\</vt:lpstr>
      <vt:lpstr>PowerPoint Presentation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Rashmi Jain</dc:creator>
  <cp:lastModifiedBy>saurabh ekka</cp:lastModifiedBy>
  <cp:revision>105</cp:revision>
  <dcterms:created xsi:type="dcterms:W3CDTF">2016-07-30T14:16:51Z</dcterms:created>
  <dcterms:modified xsi:type="dcterms:W3CDTF">2025-11-16T23:00:45Z</dcterms:modified>
</cp:coreProperties>
</file>